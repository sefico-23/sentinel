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1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7200"/>
            <a:ext cx="201168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46304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Sentinel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640080" y="24688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DE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Treasury Operations Automation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64008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Equity Capital Call Processing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40080" y="3840480"/>
            <a:ext cx="1371600" cy="45720"/>
          </a:xfrm>
          <a:prstGeom prst="rect">
            <a:avLst/>
          </a:prstGeom>
          <a:solidFill>
            <a:srgbClr val="DDE9E8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4206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Calibrium AG  |  April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1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005840"/>
            <a:ext cx="1097280" cy="36576"/>
          </a:xfrm>
          <a:prstGeom prst="rect">
            <a:avLst/>
          </a:prstGeom>
          <a:solidFill>
            <a:srgbClr val="1E3161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463040"/>
            <a:ext cx="7863840" cy="777240"/>
          </a:xfrm>
          <a:prstGeom prst="roundRect">
            <a:avLst>
              <a:gd name="adj" fmla="val 9412"/>
            </a:avLst>
          </a:prstGeom>
          <a:solidFill>
            <a:srgbClr val="DDE9E8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645920"/>
            <a:ext cx="411480" cy="411480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459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54480" y="153619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Processing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54480" y="1847088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Treasury teams handle 10-20 capital call PDFs per quarter manually, copying data into spreadsheets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377440"/>
            <a:ext cx="78638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560320"/>
            <a:ext cx="411480" cy="411480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5603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554480" y="245059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Validation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554480" y="2761488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 checks and wire verification done ad-hoc, creating fraud exposure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291840"/>
            <a:ext cx="7863840" cy="777240"/>
          </a:xfrm>
          <a:prstGeom prst="roundRect">
            <a:avLst>
              <a:gd name="adj" fmla="val 9412"/>
            </a:avLst>
          </a:prstGeom>
          <a:solidFill>
            <a:srgbClr val="DDE9E8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474720"/>
            <a:ext cx="411480" cy="411480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4747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54480" y="336499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Chaos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554480" y="3675888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GP sends notices in different formats, languages, and layouts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206240"/>
            <a:ext cx="78638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4389120"/>
            <a:ext cx="411480" cy="411480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43891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554480" y="427939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Gaps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554480" y="4590288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centralized trail of who approved what, when, and why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31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74320"/>
            <a:ext cx="109728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Solution: Project Sentinel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365760" y="1371600"/>
            <a:ext cx="1554480" cy="3200400"/>
          </a:xfrm>
          <a:prstGeom prst="roundRect">
            <a:avLst>
              <a:gd name="adj" fmla="val 5882"/>
            </a:avLst>
          </a:prstGeom>
          <a:solidFill>
            <a:srgbClr val="13233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68680" y="1645920"/>
            <a:ext cx="548640" cy="548640"/>
          </a:xfrm>
          <a:prstGeom prst="ellipse">
            <a:avLst/>
          </a:prstGeom>
          <a:solidFill>
            <a:srgbClr val="DDE9E8"/>
          </a:solidFill>
          <a:ln/>
        </p:spPr>
      </p:sp>
      <p:sp>
        <p:nvSpPr>
          <p:cNvPr id="6" name="Text 3"/>
          <p:cNvSpPr/>
          <p:nvPr/>
        </p:nvSpPr>
        <p:spPr>
          <a:xfrm>
            <a:off x="868680" y="1645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3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457200" y="23774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PDF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283464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Drag-and-drop single or batch upload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103120" y="1371600"/>
            <a:ext cx="1554480" cy="3200400"/>
          </a:xfrm>
          <a:prstGeom prst="roundRect">
            <a:avLst>
              <a:gd name="adj" fmla="val 5882"/>
            </a:avLst>
          </a:prstGeom>
          <a:solidFill>
            <a:srgbClr val="13233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2606040" y="1645920"/>
            <a:ext cx="548640" cy="548640"/>
          </a:xfrm>
          <a:prstGeom prst="ellipse">
            <a:avLst/>
          </a:prstGeom>
          <a:solidFill>
            <a:srgbClr val="DDE9E8"/>
          </a:solidFill>
          <a:ln/>
        </p:spPr>
      </p:sp>
      <p:sp>
        <p:nvSpPr>
          <p:cNvPr id="11" name="Text 8"/>
          <p:cNvSpPr/>
          <p:nvPr/>
        </p:nvSpPr>
        <p:spPr>
          <a:xfrm>
            <a:off x="2606040" y="1645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3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2194560" y="23774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Extracts Data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2194560" y="283464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+ Claude API dual-mode parsing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840480" y="1371600"/>
            <a:ext cx="1554480" cy="3200400"/>
          </a:xfrm>
          <a:prstGeom prst="roundRect">
            <a:avLst>
              <a:gd name="adj" fmla="val 5882"/>
            </a:avLst>
          </a:prstGeom>
          <a:solidFill>
            <a:srgbClr val="13233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343400" y="1645920"/>
            <a:ext cx="548640" cy="548640"/>
          </a:xfrm>
          <a:prstGeom prst="ellipse">
            <a:avLst/>
          </a:prstGeom>
          <a:solidFill>
            <a:srgbClr val="DDE9E8"/>
          </a:solidFill>
          <a:ln/>
        </p:spPr>
      </p:sp>
      <p:sp>
        <p:nvSpPr>
          <p:cNvPr id="16" name="Text 13"/>
          <p:cNvSpPr/>
          <p:nvPr/>
        </p:nvSpPr>
        <p:spPr>
          <a:xfrm>
            <a:off x="4343400" y="1645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3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3931920" y="23774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Auto-Validate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3931920" y="283464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 &amp; wire checks run instantly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577840" y="1371600"/>
            <a:ext cx="1554480" cy="3200400"/>
          </a:xfrm>
          <a:prstGeom prst="roundRect">
            <a:avLst>
              <a:gd name="adj" fmla="val 5882"/>
            </a:avLst>
          </a:prstGeom>
          <a:solidFill>
            <a:srgbClr val="13233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080760" y="1645920"/>
            <a:ext cx="548640" cy="548640"/>
          </a:xfrm>
          <a:prstGeom prst="ellipse">
            <a:avLst/>
          </a:prstGeom>
          <a:solidFill>
            <a:srgbClr val="DDE9E8"/>
          </a:solidFill>
          <a:ln/>
        </p:spPr>
      </p:sp>
      <p:sp>
        <p:nvSpPr>
          <p:cNvPr id="21" name="Text 18"/>
          <p:cNvSpPr/>
          <p:nvPr/>
        </p:nvSpPr>
        <p:spPr>
          <a:xfrm>
            <a:off x="6080760" y="1645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3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5669280" y="23774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4-Eye Approve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669280" y="283464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 confirms, system executes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7315200" y="1371600"/>
            <a:ext cx="1554480" cy="3200400"/>
          </a:xfrm>
          <a:prstGeom prst="roundRect">
            <a:avLst>
              <a:gd name="adj" fmla="val 5882"/>
            </a:avLst>
          </a:prstGeom>
          <a:solidFill>
            <a:srgbClr val="13233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818120" y="1645920"/>
            <a:ext cx="548640" cy="548640"/>
          </a:xfrm>
          <a:prstGeom prst="ellipse">
            <a:avLst/>
          </a:prstGeom>
          <a:solidFill>
            <a:srgbClr val="DDE9E8"/>
          </a:solidFill>
          <a:ln/>
        </p:spPr>
      </p:sp>
      <p:sp>
        <p:nvSpPr>
          <p:cNvPr id="26" name="Text 23"/>
          <p:cNvSpPr/>
          <p:nvPr/>
        </p:nvSpPr>
        <p:spPr>
          <a:xfrm>
            <a:off x="7818120" y="16459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3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7406640" y="23774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&amp; Report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7406640" y="283464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trail, Excel exports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1508760" y="2743200"/>
            <a:ext cx="6400800" cy="0"/>
          </a:xfrm>
          <a:prstGeom prst="line">
            <a:avLst/>
          </a:prstGeom>
          <a:noFill/>
          <a:ln w="12700">
            <a:solidFill>
              <a:srgbClr val="DDE9E8"/>
            </a:solidFill>
            <a:prstDash val="dash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1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Validation Engine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005840"/>
            <a:ext cx="1097280" cy="36576"/>
          </a:xfrm>
          <a:prstGeom prst="rect">
            <a:avLst/>
          </a:prstGeom>
          <a:solidFill>
            <a:srgbClr val="1E316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notice runs through automated risk controls before a human sees it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78638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645920"/>
                <a:gridCol w="1097280"/>
                <a:gridCol w="1188720"/>
                <a:gridCol w="914400"/>
                <a:gridCol w="10972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1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1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Amount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1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1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1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1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Notice 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GT Partners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 5.6M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74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74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D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Notice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GT Partners 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 6.0M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74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74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D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Notice 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Parallax Buyout 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 9.3M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8E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Notice 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GT Partners VI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 4.8M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8E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3840480"/>
            <a:ext cx="3749040" cy="1005840"/>
          </a:xfrm>
          <a:prstGeom prst="roundRect">
            <a:avLst>
              <a:gd name="adj" fmla="val 7273"/>
            </a:avLst>
          </a:prstGeom>
          <a:solidFill>
            <a:srgbClr val="FDEDEE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39319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1: </a:t>
            </a:r>
            <a:pPr indent="0" marL="0">
              <a:buNone/>
            </a:pPr>
            <a:r>
              <a:rPr lang="en-US" sz="1100" dirty="0">
                <a:solidFill>
                  <a:srgbClr val="1E3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 5.6M exceeds EUR 3.9M remaining commitment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4297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2: </a:t>
            </a:r>
            <a:pPr indent="0" marL="0">
              <a:buNone/>
            </a:pPr>
            <a:r>
              <a:rPr lang="en-US" sz="1100" dirty="0">
                <a:solidFill>
                  <a:srgbClr val="1E3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 mismatch - potential wire fraud signal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754880" y="3840480"/>
            <a:ext cx="3749040" cy="1005840"/>
          </a:xfrm>
          <a:prstGeom prst="roundRect">
            <a:avLst>
              <a:gd name="adj" fmla="val 7273"/>
            </a:avLst>
          </a:prstGeom>
          <a:solidFill>
            <a:srgbClr val="E8F8EF"/>
          </a:solidFill>
          <a:ln/>
        </p:spPr>
      </p:sp>
      <p:sp>
        <p:nvSpPr>
          <p:cNvPr id="10" name="Text 7"/>
          <p:cNvSpPr/>
          <p:nvPr/>
        </p:nvSpPr>
        <p:spPr>
          <a:xfrm>
            <a:off x="4937760" y="393192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Fuzzy Matching: </a:t>
            </a:r>
            <a:pPr indent="0" marL="0">
              <a:buNone/>
            </a:pPr>
            <a:r>
              <a:rPr lang="en-US" sz="1100" dirty="0">
                <a:solidFill>
                  <a:srgbClr val="1E3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"GT Partners 6" correctly matched to "GT Partners VI" via Roman numeral normalization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1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Features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005840"/>
            <a:ext cx="1097280" cy="36576"/>
          </a:xfrm>
          <a:prstGeom prst="rect">
            <a:avLst/>
          </a:prstGeom>
          <a:solidFill>
            <a:srgbClr val="1E3161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0"/>
            <a:ext cx="13258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47472" y="144475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Extraction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47472" y="181051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+ Claude API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dual-mode parsing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737360" y="1371600"/>
            <a:ext cx="13258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810512" y="144475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Upload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810512" y="181051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10-20 PDFs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once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200400" y="1371600"/>
            <a:ext cx="13258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73552" y="144475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4-Eye Approval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73552" y="181051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with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2-step confirmation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663440" y="1371600"/>
            <a:ext cx="13258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36592" y="144475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Anomaly Detection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736592" y="181051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Z-score amount,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timing, frequency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126480" y="1371600"/>
            <a:ext cx="13258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199632" y="144475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Management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199632" y="181051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Dual-auth workflow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banking changes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589520" y="1371600"/>
            <a:ext cx="13258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662672" y="144475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 Amend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662672" y="181051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increase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workflow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74320" y="2606040"/>
            <a:ext cx="1325880" cy="1051560"/>
          </a:xfrm>
          <a:prstGeom prst="roundRect">
            <a:avLst>
              <a:gd name="adj" fmla="val 6957"/>
            </a:avLst>
          </a:prstGeom>
          <a:solidFill>
            <a:srgbClr val="DDE9E8"/>
          </a:solidFill>
          <a:ln w="6350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347472" y="267919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Forecasting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47472" y="304495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12-month projection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bands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1737360" y="2606040"/>
            <a:ext cx="1325880" cy="1051560"/>
          </a:xfrm>
          <a:prstGeom prst="roundRect">
            <a:avLst>
              <a:gd name="adj" fmla="val 6957"/>
            </a:avLst>
          </a:prstGeom>
          <a:solidFill>
            <a:srgbClr val="DDE9E8"/>
          </a:solidFill>
          <a:ln w="6350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810512" y="267919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PDF Export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810512" y="304495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report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external auditors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200400" y="2606040"/>
            <a:ext cx="1325880" cy="1051560"/>
          </a:xfrm>
          <a:prstGeom prst="roundRect">
            <a:avLst>
              <a:gd name="adj" fmla="val 6957"/>
            </a:avLst>
          </a:prstGeom>
          <a:solidFill>
            <a:srgbClr val="DDE9E8"/>
          </a:solidFill>
          <a:ln w="6350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3273552" y="267919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Multi-Language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273552" y="304495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/ DE / FR / IT / ES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support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663440" y="2606040"/>
            <a:ext cx="1325880" cy="1051560"/>
          </a:xfrm>
          <a:prstGeom prst="roundRect">
            <a:avLst>
              <a:gd name="adj" fmla="val 6957"/>
            </a:avLst>
          </a:prstGeom>
          <a:solidFill>
            <a:srgbClr val="DDE9E8"/>
          </a:solidFill>
          <a:ln w="6350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36592" y="267919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Date Alerts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736592" y="304495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Color-coded urgency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countdowns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26480" y="2606040"/>
            <a:ext cx="1325880" cy="1051560"/>
          </a:xfrm>
          <a:prstGeom prst="roundRect">
            <a:avLst>
              <a:gd name="adj" fmla="val 6957"/>
            </a:avLst>
          </a:prstGeom>
          <a:solidFill>
            <a:srgbClr val="DDE9E8"/>
          </a:solidFill>
          <a:ln w="6350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199632" y="267919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Metrics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99632" y="304495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TVPI / DPI tracking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cash flows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7589520" y="2606040"/>
            <a:ext cx="1325880" cy="1051560"/>
          </a:xfrm>
          <a:prstGeom prst="roundRect">
            <a:avLst>
              <a:gd name="adj" fmla="val 6957"/>
            </a:avLst>
          </a:prstGeom>
          <a:solidFill>
            <a:srgbClr val="DDE9E8"/>
          </a:solidFill>
          <a:ln w="6350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7662672" y="267919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Detection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662672" y="304495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+ fuzzy match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override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274320" y="3840480"/>
            <a:ext cx="13258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347472" y="3913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Export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347472" y="427939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Multi-sheet reports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offline analysis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1737360" y="3840480"/>
            <a:ext cx="13258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1810512" y="3913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Preview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810512" y="427939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Side-by-side original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extracted data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200400" y="3840480"/>
            <a:ext cx="13258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3273552" y="3913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 Contacts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273552" y="427939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Quick-access directory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escalation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4663440" y="3840480"/>
            <a:ext cx="13258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4736592" y="3913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/ Light Mode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4736592" y="427939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theme support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all pages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6126480" y="3840480"/>
            <a:ext cx="13258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6199632" y="3913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Archive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199632" y="427939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storage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audit download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589520" y="3840480"/>
            <a:ext cx="13258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7662672" y="3913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Integration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662672" y="427939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SMTP sending with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templates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31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74320"/>
            <a:ext cx="109728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Security &amp; Risk Controls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457200" y="1280160"/>
            <a:ext cx="4114800" cy="658368"/>
          </a:xfrm>
          <a:prstGeom prst="roundRect">
            <a:avLst>
              <a:gd name="adj" fmla="val 11111"/>
            </a:avLst>
          </a:prstGeom>
          <a:solidFill>
            <a:srgbClr val="132338"/>
          </a:solidFill>
          <a:ln/>
        </p:spPr>
      </p:sp>
      <p:sp>
        <p:nvSpPr>
          <p:cNvPr id="5" name="Shape 2"/>
          <p:cNvSpPr/>
          <p:nvPr/>
        </p:nvSpPr>
        <p:spPr>
          <a:xfrm>
            <a:off x="566928" y="1417320"/>
            <a:ext cx="365760" cy="36576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6" name="Text 3"/>
          <p:cNvSpPr/>
          <p:nvPr/>
        </p:nvSpPr>
        <p:spPr>
          <a:xfrm>
            <a:off x="566928" y="14173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51560" y="133502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 Check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51560" y="16093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amount against remaining open commitment before approval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754880" y="1280160"/>
            <a:ext cx="4114800" cy="658368"/>
          </a:xfrm>
          <a:prstGeom prst="roundRect">
            <a:avLst>
              <a:gd name="adj" fmla="val 11111"/>
            </a:avLst>
          </a:prstGeom>
          <a:solidFill>
            <a:srgbClr val="132338"/>
          </a:solidFill>
          <a:ln/>
        </p:spPr>
      </p:sp>
      <p:sp>
        <p:nvSpPr>
          <p:cNvPr id="10" name="Shape 7"/>
          <p:cNvSpPr/>
          <p:nvPr/>
        </p:nvSpPr>
        <p:spPr>
          <a:xfrm>
            <a:off x="4864608" y="1417320"/>
            <a:ext cx="365760" cy="36576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1" name="Text 8"/>
          <p:cNvSpPr/>
          <p:nvPr/>
        </p:nvSpPr>
        <p:spPr>
          <a:xfrm>
            <a:off x="4864608" y="14173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349240" y="133502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Verification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349240" y="16093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 normalized and compared against approved wire instructions database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457200" y="2057400"/>
            <a:ext cx="4114800" cy="658368"/>
          </a:xfrm>
          <a:prstGeom prst="roundRect">
            <a:avLst>
              <a:gd name="adj" fmla="val 11111"/>
            </a:avLst>
          </a:prstGeom>
          <a:solidFill>
            <a:srgbClr val="132338"/>
          </a:solidFill>
          <a:ln/>
        </p:spPr>
      </p:sp>
      <p:sp>
        <p:nvSpPr>
          <p:cNvPr id="15" name="Shape 12"/>
          <p:cNvSpPr/>
          <p:nvPr/>
        </p:nvSpPr>
        <p:spPr>
          <a:xfrm>
            <a:off x="566928" y="2194560"/>
            <a:ext cx="365760" cy="36576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2194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211226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Detection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051560" y="238658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+ fuzzy matching prevents re-processing of same capital call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754880" y="2057400"/>
            <a:ext cx="4114800" cy="658368"/>
          </a:xfrm>
          <a:prstGeom prst="roundRect">
            <a:avLst>
              <a:gd name="adj" fmla="val 11111"/>
            </a:avLst>
          </a:prstGeom>
          <a:solidFill>
            <a:srgbClr val="132338"/>
          </a:solidFill>
          <a:ln/>
        </p:spPr>
      </p:sp>
      <p:sp>
        <p:nvSpPr>
          <p:cNvPr id="20" name="Shape 17"/>
          <p:cNvSpPr/>
          <p:nvPr/>
        </p:nvSpPr>
        <p:spPr>
          <a:xfrm>
            <a:off x="4864608" y="2194560"/>
            <a:ext cx="365760" cy="36576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21" name="Text 18"/>
          <p:cNvSpPr/>
          <p:nvPr/>
        </p:nvSpPr>
        <p:spPr>
          <a:xfrm>
            <a:off x="4864608" y="2194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5349240" y="211226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4-Eye Principle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349240" y="238658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 must be a different person with reviewer/admin role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457200" y="2834640"/>
            <a:ext cx="4114800" cy="658368"/>
          </a:xfrm>
          <a:prstGeom prst="roundRect">
            <a:avLst>
              <a:gd name="adj" fmla="val 11111"/>
            </a:avLst>
          </a:prstGeom>
          <a:solidFill>
            <a:srgbClr val="132338"/>
          </a:solidFill>
          <a:ln/>
        </p:spPr>
      </p:sp>
      <p:sp>
        <p:nvSpPr>
          <p:cNvPr id="25" name="Shape 22"/>
          <p:cNvSpPr/>
          <p:nvPr/>
        </p:nvSpPr>
        <p:spPr>
          <a:xfrm>
            <a:off x="566928" y="2971800"/>
            <a:ext cx="365760" cy="36576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26" name="Text 23"/>
          <p:cNvSpPr/>
          <p:nvPr/>
        </p:nvSpPr>
        <p:spPr>
          <a:xfrm>
            <a:off x="566928" y="2971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1051560" y="288950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 Prevention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1051560" y="316382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PDF-sourced strings HTML-escaped before rendering in the UI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4754880" y="2834640"/>
            <a:ext cx="4114800" cy="658368"/>
          </a:xfrm>
          <a:prstGeom prst="roundRect">
            <a:avLst>
              <a:gd name="adj" fmla="val 11111"/>
            </a:avLst>
          </a:prstGeom>
          <a:solidFill>
            <a:srgbClr val="132338"/>
          </a:solidFill>
          <a:ln/>
        </p:spPr>
      </p:sp>
      <p:sp>
        <p:nvSpPr>
          <p:cNvPr id="30" name="Shape 27"/>
          <p:cNvSpPr/>
          <p:nvPr/>
        </p:nvSpPr>
        <p:spPr>
          <a:xfrm>
            <a:off x="4864608" y="2971800"/>
            <a:ext cx="365760" cy="36576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31" name="Text 28"/>
          <p:cNvSpPr/>
          <p:nvPr/>
        </p:nvSpPr>
        <p:spPr>
          <a:xfrm>
            <a:off x="4864608" y="2971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349240" y="288950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Anomaly Detection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5349240" y="316382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Z-score amount, timing interval, and frequency burst analysis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457200" y="3611880"/>
            <a:ext cx="4114800" cy="658368"/>
          </a:xfrm>
          <a:prstGeom prst="roundRect">
            <a:avLst>
              <a:gd name="adj" fmla="val 11111"/>
            </a:avLst>
          </a:prstGeom>
          <a:solidFill>
            <a:srgbClr val="132338"/>
          </a:solidFill>
          <a:ln/>
        </p:spPr>
      </p:sp>
      <p:sp>
        <p:nvSpPr>
          <p:cNvPr id="35" name="Shape 32"/>
          <p:cNvSpPr/>
          <p:nvPr/>
        </p:nvSpPr>
        <p:spPr>
          <a:xfrm>
            <a:off x="566928" y="3749040"/>
            <a:ext cx="365760" cy="36576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36" name="Text 33"/>
          <p:cNvSpPr/>
          <p:nvPr/>
        </p:nvSpPr>
        <p:spPr>
          <a:xfrm>
            <a:off x="566928" y="37490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1051560" y="36667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Zero-Amount Guard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1051560" y="394106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or unparseable amounts blocked from silent approval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4754880" y="3611880"/>
            <a:ext cx="4114800" cy="658368"/>
          </a:xfrm>
          <a:prstGeom prst="roundRect">
            <a:avLst>
              <a:gd name="adj" fmla="val 11111"/>
            </a:avLst>
          </a:prstGeom>
          <a:solidFill>
            <a:srgbClr val="132338"/>
          </a:solidFill>
          <a:ln/>
        </p:spPr>
      </p:sp>
      <p:sp>
        <p:nvSpPr>
          <p:cNvPr id="40" name="Shape 37"/>
          <p:cNvSpPr/>
          <p:nvPr/>
        </p:nvSpPr>
        <p:spPr>
          <a:xfrm>
            <a:off x="4864608" y="3749040"/>
            <a:ext cx="365760" cy="36576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41" name="Text 38"/>
          <p:cNvSpPr/>
          <p:nvPr/>
        </p:nvSpPr>
        <p:spPr>
          <a:xfrm>
            <a:off x="4864608" y="37490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400" dirty="0"/>
          </a:p>
        </p:txBody>
      </p:sp>
      <p:sp>
        <p:nvSpPr>
          <p:cNvPr id="42" name="Text 39"/>
          <p:cNvSpPr/>
          <p:nvPr/>
        </p:nvSpPr>
        <p:spPr>
          <a:xfrm>
            <a:off x="5349240" y="36667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Change Audit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5349240" y="394106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Dual-authorization workflow for any banking detail modifications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457200" y="4389120"/>
            <a:ext cx="4114800" cy="658368"/>
          </a:xfrm>
          <a:prstGeom prst="roundRect">
            <a:avLst>
              <a:gd name="adj" fmla="val 11111"/>
            </a:avLst>
          </a:prstGeom>
          <a:solidFill>
            <a:srgbClr val="132338"/>
          </a:solidFill>
          <a:ln/>
        </p:spPr>
      </p:sp>
      <p:sp>
        <p:nvSpPr>
          <p:cNvPr id="45" name="Shape 42"/>
          <p:cNvSpPr/>
          <p:nvPr/>
        </p:nvSpPr>
        <p:spPr>
          <a:xfrm>
            <a:off x="566928" y="4526280"/>
            <a:ext cx="365760" cy="36576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46" name="Text 43"/>
          <p:cNvSpPr/>
          <p:nvPr/>
        </p:nvSpPr>
        <p:spPr>
          <a:xfrm>
            <a:off x="566928" y="45262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400" dirty="0"/>
          </a:p>
        </p:txBody>
      </p:sp>
      <p:sp>
        <p:nvSpPr>
          <p:cNvPr id="47" name="Text 44"/>
          <p:cNvSpPr/>
          <p:nvPr/>
        </p:nvSpPr>
        <p:spPr>
          <a:xfrm>
            <a:off x="1051560" y="444398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SMTP Isolation</a:t>
            </a:r>
            <a:endParaRPr lang="en-US" sz="1200" dirty="0"/>
          </a:p>
        </p:txBody>
      </p:sp>
      <p:sp>
        <p:nvSpPr>
          <p:cNvPr id="48" name="Text 45"/>
          <p:cNvSpPr/>
          <p:nvPr/>
        </p:nvSpPr>
        <p:spPr>
          <a:xfrm>
            <a:off x="1051560" y="471830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passwords stored in session memory only, never persisted to DB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1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&amp; Tech Stack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005840"/>
            <a:ext cx="1097280" cy="36576"/>
          </a:xfrm>
          <a:prstGeom prst="rect">
            <a:avLst/>
          </a:prstGeom>
          <a:solidFill>
            <a:srgbClr val="1E3161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371600"/>
            <a:ext cx="4114800" cy="731520"/>
          </a:xfrm>
          <a:prstGeom prst="roundRect">
            <a:avLst>
              <a:gd name="adj" fmla="val 10000"/>
            </a:avLst>
          </a:prstGeom>
          <a:solidFill>
            <a:srgbClr val="1E3161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44475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Web UI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737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/ Process / Audit / Wire Mgmt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697480" y="2103120"/>
            <a:ext cx="0" cy="137160"/>
          </a:xfrm>
          <a:prstGeom prst="line">
            <a:avLst/>
          </a:prstGeom>
          <a:noFill/>
          <a:ln w="25400">
            <a:solidFill>
              <a:srgbClr val="E0E0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240280"/>
            <a:ext cx="4114800" cy="731520"/>
          </a:xfrm>
          <a:prstGeom prst="roundRect">
            <a:avLst>
              <a:gd name="adj" fmla="val 10000"/>
            </a:avLst>
          </a:prstGeom>
          <a:solidFill>
            <a:srgbClr val="2A4080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22960" y="23134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Extractor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2606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(primary) + Claude API (fallback)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697480" y="2971800"/>
            <a:ext cx="0" cy="137160"/>
          </a:xfrm>
          <a:prstGeom prst="line">
            <a:avLst/>
          </a:prstGeom>
          <a:noFill/>
          <a:ln w="25400">
            <a:solidFill>
              <a:srgbClr val="E0E0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3108960"/>
            <a:ext cx="4114800" cy="731520"/>
          </a:xfrm>
          <a:prstGeom prst="roundRect">
            <a:avLst>
              <a:gd name="adj" fmla="val 10000"/>
            </a:avLst>
          </a:prstGeom>
          <a:solidFill>
            <a:srgbClr val="2A4080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2960" y="318211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Engine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" y="3474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 + Wire + Fuzzy Match + Duplicate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697480" y="3840480"/>
            <a:ext cx="0" cy="137160"/>
          </a:xfrm>
          <a:prstGeom prst="line">
            <a:avLst/>
          </a:prstGeom>
          <a:noFill/>
          <a:ln w="25400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977640"/>
            <a:ext cx="4114800" cy="731520"/>
          </a:xfrm>
          <a:prstGeom prst="roundRect">
            <a:avLst>
              <a:gd name="adj" fmla="val 10000"/>
            </a:avLst>
          </a:prstGeom>
          <a:solidFill>
            <a:srgbClr val="1E3161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22960" y="40507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Database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2960" y="4343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 mode / Atomic transactions / Full audit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303520" y="1371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303520" y="18288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3.10+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949440" y="18288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language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303520" y="221284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949440" y="221284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UI framework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303520" y="2596896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(WAL)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949440" y="2596896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database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303520" y="298094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Plotly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949440" y="2980944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charts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303520" y="336499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pdfplumber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949440" y="336499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text extraction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303520" y="37490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rapidfuzz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949440" y="37490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Fuzzy string matching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303520" y="413308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949440" y="4133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extraction (optional)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303520" y="4517136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openpyxl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949440" y="4517136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read/write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03520" y="4023360"/>
            <a:ext cx="3474720" cy="822960"/>
          </a:xfrm>
          <a:prstGeom prst="roundRect">
            <a:avLst>
              <a:gd name="adj" fmla="val 8889"/>
            </a:avLst>
          </a:prstGeom>
          <a:solidFill>
            <a:srgbClr val="DDE9E8"/>
          </a:solidFill>
          <a:ln/>
        </p:spPr>
      </p:sp>
      <p:sp>
        <p:nvSpPr>
          <p:cNvPr id="37" name="Text 35"/>
          <p:cNvSpPr/>
          <p:nvPr/>
        </p:nvSpPr>
        <p:spPr>
          <a:xfrm>
            <a:off x="5486400" y="4114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Tests Passing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rgbClr val="5A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+ Validation + Database coverage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31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 &amp; Future Outlook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005840"/>
            <a:ext cx="1097280" cy="36576"/>
          </a:xfrm>
          <a:prstGeom prst="rect">
            <a:avLst/>
          </a:prstGeom>
          <a:solidFill>
            <a:srgbClr val="1E3161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0"/>
            <a:ext cx="2697480" cy="347472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371600"/>
            <a:ext cx="2697480" cy="5029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37160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85800" y="2103120"/>
            <a:ext cx="228600" cy="22860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for scanned PDFs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2761488"/>
            <a:ext cx="228600" cy="22860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271576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Multi-currency + FX rates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800" y="3419856"/>
            <a:ext cx="228600" cy="22860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" y="3374136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Slack/Teams notifications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337560" y="1371600"/>
            <a:ext cx="2697480" cy="347472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337560" y="1371600"/>
            <a:ext cx="2697480" cy="502920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15" name="Text 13"/>
          <p:cNvSpPr/>
          <p:nvPr/>
        </p:nvSpPr>
        <p:spPr>
          <a:xfrm>
            <a:off x="3337560" y="137160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3566160" y="2103120"/>
            <a:ext cx="228600" cy="228600"/>
          </a:xfrm>
          <a:prstGeom prst="ellipse">
            <a:avLst/>
          </a:prstGeom>
          <a:solidFill>
            <a:srgbClr val="F39C12"/>
          </a:solidFill>
          <a:ln/>
        </p:spPr>
      </p:sp>
      <p:sp>
        <p:nvSpPr>
          <p:cNvPr id="17" name="Text 15"/>
          <p:cNvSpPr/>
          <p:nvPr/>
        </p:nvSpPr>
        <p:spPr>
          <a:xfrm>
            <a:off x="393192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 / Azure AD auth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566160" y="2761488"/>
            <a:ext cx="228600" cy="228600"/>
          </a:xfrm>
          <a:prstGeom prst="ellipse">
            <a:avLst/>
          </a:prstGeom>
          <a:solidFill>
            <a:srgbClr val="F39C12"/>
          </a:solidFill>
          <a:ln/>
        </p:spPr>
      </p:sp>
      <p:sp>
        <p:nvSpPr>
          <p:cNvPr id="19" name="Text 17"/>
          <p:cNvSpPr/>
          <p:nvPr/>
        </p:nvSpPr>
        <p:spPr>
          <a:xfrm>
            <a:off x="3931920" y="271576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 Portal API integration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17920" y="1371600"/>
            <a:ext cx="2697480" cy="347472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217920" y="1371600"/>
            <a:ext cx="2697480" cy="502920"/>
          </a:xfrm>
          <a:prstGeom prst="rect">
            <a:avLst/>
          </a:prstGeom>
          <a:solidFill>
            <a:srgbClr val="1E3161"/>
          </a:solidFill>
          <a:ln/>
        </p:spPr>
      </p:sp>
      <p:sp>
        <p:nvSpPr>
          <p:cNvPr id="22" name="Text 20"/>
          <p:cNvSpPr/>
          <p:nvPr/>
        </p:nvSpPr>
        <p:spPr>
          <a:xfrm>
            <a:off x="6217920" y="137160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6446520" y="2103120"/>
            <a:ext cx="228600" cy="228600"/>
          </a:xfrm>
          <a:prstGeom prst="ellipse">
            <a:avLst/>
          </a:prstGeom>
          <a:solidFill>
            <a:srgbClr val="1E3161"/>
          </a:solidFill>
          <a:ln/>
        </p:spPr>
      </p:sp>
      <p:sp>
        <p:nvSpPr>
          <p:cNvPr id="24" name="Text 22"/>
          <p:cNvSpPr/>
          <p:nvPr/>
        </p:nvSpPr>
        <p:spPr>
          <a:xfrm>
            <a:off x="681228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SWIFT MT103 generation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46520" y="2761488"/>
            <a:ext cx="228600" cy="228600"/>
          </a:xfrm>
          <a:prstGeom prst="ellipse">
            <a:avLst/>
          </a:prstGeom>
          <a:solidFill>
            <a:srgbClr val="1E3161"/>
          </a:solidFill>
          <a:ln/>
        </p:spPr>
      </p:sp>
      <p:sp>
        <p:nvSpPr>
          <p:cNvPr id="26" name="Text 24"/>
          <p:cNvSpPr/>
          <p:nvPr/>
        </p:nvSpPr>
        <p:spPr>
          <a:xfrm>
            <a:off x="6812280" y="271576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push approvals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31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274320"/>
            <a:ext cx="109728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Numbers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640080" y="1280160"/>
            <a:ext cx="2560320" cy="1554480"/>
          </a:xfrm>
          <a:prstGeom prst="roundRect">
            <a:avLst>
              <a:gd name="adj" fmla="val 5882"/>
            </a:avLst>
          </a:prstGeom>
          <a:solidFill>
            <a:srgbClr val="132338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640080" y="14630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DE9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EUR 255M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640080" y="21488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Commitments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Tracked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474720" y="1280160"/>
            <a:ext cx="2560320" cy="1554480"/>
          </a:xfrm>
          <a:prstGeom prst="roundRect">
            <a:avLst>
              <a:gd name="adj" fmla="val 5882"/>
            </a:avLst>
          </a:prstGeom>
          <a:solidFill>
            <a:srgbClr val="132338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3474720" y="14630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DE9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3474720" y="21488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Funds Across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Vintages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309360" y="1280160"/>
            <a:ext cx="2560320" cy="1554480"/>
          </a:xfrm>
          <a:prstGeom prst="roundRect">
            <a:avLst>
              <a:gd name="adj" fmla="val 5882"/>
            </a:avLst>
          </a:prstGeom>
          <a:solidFill>
            <a:srgbClr val="132338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309360" y="14630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DE9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34+</a:t>
            </a:r>
            <a:endParaRPr lang="en-US" sz="3600" dirty="0"/>
          </a:p>
        </p:txBody>
      </p:sp>
      <p:sp>
        <p:nvSpPr>
          <p:cNvPr id="12" name="Text 9"/>
          <p:cNvSpPr/>
          <p:nvPr/>
        </p:nvSpPr>
        <p:spPr>
          <a:xfrm>
            <a:off x="6309360" y="21488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40080" y="3108960"/>
            <a:ext cx="2560320" cy="1554480"/>
          </a:xfrm>
          <a:prstGeom prst="roundRect">
            <a:avLst>
              <a:gd name="adj" fmla="val 5882"/>
            </a:avLst>
          </a:prstGeom>
          <a:solidFill>
            <a:srgbClr val="132338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40080" y="32918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DE9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</a:t>
            </a:r>
            <a:endParaRPr lang="en-US" sz="3600" dirty="0"/>
          </a:p>
        </p:txBody>
      </p:sp>
      <p:sp>
        <p:nvSpPr>
          <p:cNvPr id="15" name="Text 12"/>
          <p:cNvSpPr/>
          <p:nvPr/>
        </p:nvSpPr>
        <p:spPr>
          <a:xfrm>
            <a:off x="640080" y="3977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Passing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3474720" y="3108960"/>
            <a:ext cx="2560320" cy="1554480"/>
          </a:xfrm>
          <a:prstGeom prst="roundRect">
            <a:avLst>
              <a:gd name="adj" fmla="val 5882"/>
            </a:avLst>
          </a:prstGeom>
          <a:solidFill>
            <a:srgbClr val="132338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3474720" y="32918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DE9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600" dirty="0"/>
          </a:p>
        </p:txBody>
      </p:sp>
      <p:sp>
        <p:nvSpPr>
          <p:cNvPr id="18" name="Text 15"/>
          <p:cNvSpPr/>
          <p:nvPr/>
        </p:nvSpPr>
        <p:spPr>
          <a:xfrm>
            <a:off x="3474720" y="3977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309360" y="3108960"/>
            <a:ext cx="2560320" cy="1554480"/>
          </a:xfrm>
          <a:prstGeom prst="roundRect">
            <a:avLst>
              <a:gd name="adj" fmla="val 5882"/>
            </a:avLst>
          </a:prstGeom>
          <a:solidFill>
            <a:srgbClr val="132338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6309360" y="32918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DE9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</a:t>
            </a:r>
            <a:endParaRPr lang="en-US" sz="3600" dirty="0"/>
          </a:p>
        </p:txBody>
      </p:sp>
      <p:sp>
        <p:nvSpPr>
          <p:cNvPr id="21" name="Text 18"/>
          <p:cNvSpPr/>
          <p:nvPr/>
        </p:nvSpPr>
        <p:spPr>
          <a:xfrm>
            <a:off x="6309360" y="3977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31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8960" y="731520"/>
            <a:ext cx="2926080" cy="7315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8288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Demo</a:t>
            </a:r>
            <a:endParaRPr lang="en-US" sz="4800" dirty="0"/>
          </a:p>
        </p:txBody>
      </p:sp>
      <p:sp>
        <p:nvSpPr>
          <p:cNvPr id="4" name="Shape 1"/>
          <p:cNvSpPr/>
          <p:nvPr/>
        </p:nvSpPr>
        <p:spPr>
          <a:xfrm>
            <a:off x="3840480" y="2743200"/>
            <a:ext cx="1463040" cy="45720"/>
          </a:xfrm>
          <a:prstGeom prst="rect">
            <a:avLst/>
          </a:prstGeom>
          <a:solidFill>
            <a:srgbClr val="DDE9E8"/>
          </a:solidFill>
          <a:ln/>
        </p:spPr>
      </p:sp>
      <p:sp>
        <p:nvSpPr>
          <p:cNvPr id="5" name="Text 2"/>
          <p:cNvSpPr/>
          <p:nvPr/>
        </p:nvSpPr>
        <p:spPr>
          <a:xfrm>
            <a:off x="1828800" y="31089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DE9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http://localhost:8501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1828800" y="3840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Sentinel  |  Treasury Operations Automation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828800" y="4389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github.com/SEFICO-23/Sentinel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Sentinel - Treasury Operations Automation</dc:title>
  <dc:subject>PptxGenJS Presentation</dc:subject>
  <dc:creator>Calibrium AG</dc:creator>
  <cp:lastModifiedBy>Calibrium AG</cp:lastModifiedBy>
  <cp:revision>1</cp:revision>
  <dcterms:created xsi:type="dcterms:W3CDTF">2026-04-14T13:22:43Z</dcterms:created>
  <dcterms:modified xsi:type="dcterms:W3CDTF">2026-04-14T13:22:43Z</dcterms:modified>
</cp:coreProperties>
</file>