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01168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Sentinel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E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Operations Automation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Capital Call Processing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371600" cy="45720"/>
          </a:xfrm>
          <a:prstGeom prst="rect">
            <a:avLst/>
          </a:prstGeom>
          <a:solidFill>
            <a:srgbClr val="DDE9E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Calibrium AG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536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470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teams handle 10-20 capital call PDFs per quarter manually, copying data into spreadsheets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7614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checks and wire verification done ad-hoc, creating fraud exposure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747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64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Chaos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75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GP sends notices in different formats, languages, and layouts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38912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Gaps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5902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trail of who approved what, when, and why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10972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Project Sentinel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13716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DDE9E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single or batch upload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03120" y="13716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06040" y="1645920"/>
            <a:ext cx="548640" cy="548640"/>
          </a:xfrm>
          <a:prstGeom prst="ellipse">
            <a:avLst/>
          </a:prstGeom>
          <a:solidFill>
            <a:srgbClr val="DDE9E8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945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19456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Claude API dual-mode parsing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0" y="13716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43400" y="1645920"/>
            <a:ext cx="548640" cy="548640"/>
          </a:xfrm>
          <a:prstGeom prst="ellipse">
            <a:avLst/>
          </a:prstGeom>
          <a:solidFill>
            <a:srgbClr val="DDE9E8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93192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3192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wire checks run instantly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13716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1645920"/>
            <a:ext cx="548640" cy="548640"/>
          </a:xfrm>
          <a:prstGeom prst="ellipse">
            <a:avLst/>
          </a:prstGeom>
          <a:solidFill>
            <a:srgbClr val="DDE9E8"/>
          </a:solidFill>
          <a:ln/>
        </p:spPr>
      </p:sp>
      <p:sp>
        <p:nvSpPr>
          <p:cNvPr id="21" name="Text 18"/>
          <p:cNvSpPr/>
          <p:nvPr/>
        </p:nvSpPr>
        <p:spPr>
          <a:xfrm>
            <a:off x="60807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66928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 Approve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66928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confirms, system executes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0" y="137160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818120" y="1645920"/>
            <a:ext cx="548640" cy="548640"/>
          </a:xfrm>
          <a:prstGeom prst="ellipse">
            <a:avLst/>
          </a:prstGeom>
          <a:solidFill>
            <a:srgbClr val="DDE9E8"/>
          </a:solidFill>
          <a:ln/>
        </p:spPr>
      </p:sp>
      <p:sp>
        <p:nvSpPr>
          <p:cNvPr id="26" name="Text 23"/>
          <p:cNvSpPr/>
          <p:nvPr/>
        </p:nvSpPr>
        <p:spPr>
          <a:xfrm>
            <a:off x="7818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40664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Report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0664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trail, Excel exports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508760" y="2743200"/>
            <a:ext cx="6400800" cy="0"/>
          </a:xfrm>
          <a:prstGeom prst="line">
            <a:avLst/>
          </a:prstGeom>
          <a:noFill/>
          <a:ln w="12700">
            <a:solidFill>
              <a:srgbClr val="DDE9E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Engine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notice runs through automated risk controls before a human sees it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863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45920"/>
                <a:gridCol w="1097280"/>
                <a:gridCol w="1188720"/>
                <a:gridCol w="9144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1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Partners 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5.6M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Partners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Parallax Buyout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9.3M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Partners 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84048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DEDE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1: </a:t>
            </a:r>
            <a:pPr indent="0" marL="0">
              <a:buNone/>
            </a:pPr>
            <a:r>
              <a:rPr lang="en-US" sz="11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5.6M exceeds EUR 3.9M remaining commitment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2: </a:t>
            </a:r>
            <a:pPr indent="0" marL="0">
              <a:buNone/>
            </a:pPr>
            <a:r>
              <a:rPr lang="en-US" sz="11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mismatch - potential wire fraud signal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384048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E8F8EF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931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Matching: </a:t>
            </a:r>
            <a:pPr indent="0" marL="0">
              <a:buNone/>
            </a:pPr>
            <a:r>
              <a:rPr lang="en-US" sz="11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"GT Partners 6" correctly matched to "GT Partners VI" via Roman numeral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Claude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parsing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10-20 PDFs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 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 confirmation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Dual-auth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banking changes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6060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Amend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3063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increase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workflow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Metrics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063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TVPI / DPI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cash flows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26060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DDE9E8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5160" y="2697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063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search, export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PDF archive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4297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DE / FR / IT / 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support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9748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Alerts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297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urgency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countdowns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4297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reports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offline analysis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384048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95160" y="3931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4297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fuzzy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override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10972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Risk Controls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14630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Check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amount against remaining open commitment before approval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4068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Verification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406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 normalized and compared against approved wire instructions database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194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" y="23774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fuzzy matching prevents re-processing of same capital call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194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20" name="Shape 17"/>
          <p:cNvSpPr/>
          <p:nvPr/>
        </p:nvSpPr>
        <p:spPr>
          <a:xfrm>
            <a:off x="4892040" y="23774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4068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4-Eye Principle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4068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must be a different person with reviewer/admin role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089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25" name="Shape 22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4300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Prevention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300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PDF-sourced strings HTML-escaped before rendering in the UI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31089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30" name="Shape 27"/>
          <p:cNvSpPr/>
          <p:nvPr/>
        </p:nvSpPr>
        <p:spPr>
          <a:xfrm>
            <a:off x="4892040" y="32918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8"/>
          <p:cNvSpPr/>
          <p:nvPr/>
        </p:nvSpPr>
        <p:spPr>
          <a:xfrm>
            <a:off x="48920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4068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Zero-Amount Guard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4068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unparseable amounts blocked from silent approval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23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35" name="Shape 32"/>
          <p:cNvSpPr/>
          <p:nvPr/>
        </p:nvSpPr>
        <p:spPr>
          <a:xfrm>
            <a:off x="594360" y="42062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4300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Change Audit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114300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Dual-authorization workflow for any banking detail modifications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754880" y="4023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32338"/>
          </a:solidFill>
          <a:ln/>
        </p:spPr>
      </p:sp>
      <p:sp>
        <p:nvSpPr>
          <p:cNvPr id="40" name="Shape 37"/>
          <p:cNvSpPr/>
          <p:nvPr/>
        </p:nvSpPr>
        <p:spPr>
          <a:xfrm>
            <a:off x="4892040" y="420624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1" name="Text 38"/>
          <p:cNvSpPr/>
          <p:nvPr/>
        </p:nvSpPr>
        <p:spPr>
          <a:xfrm>
            <a:off x="48920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440680" y="4096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Isolation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4068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passwords stored in session memory only, never persisted to DB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1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Process / Audit / Wire Mgmt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97480" y="2103120"/>
            <a:ext cx="0" cy="13716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2A408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Extractor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(primary) + Claude API (fallback)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971800"/>
            <a:ext cx="0" cy="13716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089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2A408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+ Wire + Fuzzy Match + Duplicate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3840480"/>
            <a:ext cx="0" cy="13716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776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1E316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50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/ Atomic transactions / Full audit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596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(WAL)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5968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980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364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text extraction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string matching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4133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133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 (optional)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4517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4517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read/write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03520" y="402336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DDE9E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Tests Passing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+ Validation + Database coverage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1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Future Outlook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761488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+ FX rates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419856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sending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78224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3716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66160" y="210312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Azure AD auth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2761488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forecasting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3419856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notifications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4078224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 PDF export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1E31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46520" y="2103120"/>
            <a:ext cx="228600" cy="228600"/>
          </a:xfrm>
          <a:prstGeom prst="ellipse">
            <a:avLst/>
          </a:prstGeom>
          <a:solidFill>
            <a:srgbClr val="1E31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Portal API integration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2761488"/>
            <a:ext cx="228600" cy="228600"/>
          </a:xfrm>
          <a:prstGeom prst="ellipse">
            <a:avLst/>
          </a:prstGeom>
          <a:solidFill>
            <a:srgbClr val="1E31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2715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3419856"/>
            <a:ext cx="228600" cy="228600"/>
          </a:xfrm>
          <a:prstGeom prst="ellipse">
            <a:avLst/>
          </a:prstGeom>
          <a:solidFill>
            <a:srgbClr val="1E3161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33741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MT103 generation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4078224"/>
            <a:ext cx="228600" cy="228600"/>
          </a:xfrm>
          <a:prstGeom prst="ellipse">
            <a:avLst/>
          </a:prstGeom>
          <a:solidFill>
            <a:srgbClr val="1E3161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032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push approvals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109728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255M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47472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Vintages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3093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4008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7472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7472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47472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09360" y="31089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3233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0936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E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3093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1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731520"/>
            <a:ext cx="292608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840480" y="2743200"/>
            <a:ext cx="1463040" cy="45720"/>
          </a:xfrm>
          <a:prstGeom prst="rect">
            <a:avLst/>
          </a:prstGeom>
          <a:solidFill>
            <a:srgbClr val="DDE9E8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9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Sentinel  |  Treasury Operations Automation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github.com/SEFICO-23/Sentinel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Sentinel - Treasury Operations Automation</dc:title>
  <dc:subject>PptxGenJS Presentation</dc:subject>
  <dc:creator>Calibrium AG</dc:creator>
  <cp:lastModifiedBy>Calibrium AG</cp:lastModifiedBy>
  <cp:revision>1</cp:revision>
  <dcterms:created xsi:type="dcterms:W3CDTF">2026-04-14T08:17:12Z</dcterms:created>
  <dcterms:modified xsi:type="dcterms:W3CDTF">2026-04-14T08:17:12Z</dcterms:modified>
</cp:coreProperties>
</file>